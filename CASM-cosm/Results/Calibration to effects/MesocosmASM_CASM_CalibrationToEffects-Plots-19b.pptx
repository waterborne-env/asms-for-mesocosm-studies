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4"/>
  </p:notesMasterIdLst>
  <p:sldIdLst>
    <p:sldId id="266" r:id="rId5"/>
    <p:sldId id="265" r:id="rId6"/>
    <p:sldId id="267" r:id="rId7"/>
    <p:sldId id="306" r:id="rId8"/>
    <p:sldId id="307" r:id="rId9"/>
    <p:sldId id="258" r:id="rId10"/>
    <p:sldId id="308" r:id="rId11"/>
    <p:sldId id="259" r:id="rId12"/>
    <p:sldId id="261" r:id="rId13"/>
    <p:sldId id="312" r:id="rId14"/>
    <p:sldId id="260" r:id="rId15"/>
    <p:sldId id="262" r:id="rId16"/>
    <p:sldId id="263" r:id="rId17"/>
    <p:sldId id="264" r:id="rId18"/>
    <p:sldId id="309" r:id="rId19"/>
    <p:sldId id="310" r:id="rId20"/>
    <p:sldId id="311" r:id="rId21"/>
    <p:sldId id="257" r:id="rId22"/>
    <p:sldId id="256" r:id="rId2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8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221" y="43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73EA6C-EEDF-42BA-90B3-AD2FAEF7B14B}" type="datetimeFigureOut">
              <a:rPr lang="en-US" smtClean="0"/>
              <a:t>9/30/2022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6A018C-0CCF-487B-A329-5EBF268FA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940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C6248A8-B408-46AD-9C8F-95D15060A4F8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75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6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5137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E6C40-EE9E-4125-866E-F192326296A6}" type="datetimeFigureOut">
              <a:rPr lang="en-US" smtClean="0"/>
              <a:t>9/30/2022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20330-F926-45FE-93A3-D8B9E85F4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864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E6C40-EE9E-4125-866E-F192326296A6}" type="datetimeFigureOut">
              <a:rPr lang="en-US" smtClean="0"/>
              <a:t>9/30/2022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20330-F926-45FE-93A3-D8B9E85F4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515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E6C40-EE9E-4125-866E-F192326296A6}" type="datetimeFigureOut">
              <a:rPr lang="en-US" smtClean="0"/>
              <a:t>9/30/2022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20330-F926-45FE-93A3-D8B9E85F4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7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E6C40-EE9E-4125-866E-F192326296A6}" type="datetimeFigureOut">
              <a:rPr lang="en-US" smtClean="0"/>
              <a:t>9/30/2022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20330-F926-45FE-93A3-D8B9E85F4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638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E6C40-EE9E-4125-866E-F192326296A6}" type="datetimeFigureOut">
              <a:rPr lang="en-US" smtClean="0"/>
              <a:t>9/30/2022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20330-F926-45FE-93A3-D8B9E85F4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951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E6C40-EE9E-4125-866E-F192326296A6}" type="datetimeFigureOut">
              <a:rPr lang="en-US" smtClean="0"/>
              <a:t>9/30/2022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20330-F926-45FE-93A3-D8B9E85F4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460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E6C40-EE9E-4125-866E-F192326296A6}" type="datetimeFigureOut">
              <a:rPr lang="en-US" smtClean="0"/>
              <a:t>9/30/2022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20330-F926-45FE-93A3-D8B9E85F4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694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E6C40-EE9E-4125-866E-F192326296A6}" type="datetimeFigureOut">
              <a:rPr lang="en-US" smtClean="0"/>
              <a:t>9/30/2022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20330-F926-45FE-93A3-D8B9E85F4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139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E6C40-EE9E-4125-866E-F192326296A6}" type="datetimeFigureOut">
              <a:rPr lang="en-US" smtClean="0"/>
              <a:t>9/30/2022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20330-F926-45FE-93A3-D8B9E85F4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543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E6C40-EE9E-4125-866E-F192326296A6}" type="datetimeFigureOut">
              <a:rPr lang="en-US" smtClean="0"/>
              <a:t>9/30/2022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20330-F926-45FE-93A3-D8B9E85F4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68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E6C40-EE9E-4125-866E-F192326296A6}" type="datetimeFigureOut">
              <a:rPr lang="en-US" smtClean="0"/>
              <a:t>9/30/2022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20330-F926-45FE-93A3-D8B9E85F4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297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8E6C40-EE9E-4125-866E-F192326296A6}" type="datetimeFigureOut">
              <a:rPr lang="en-US" smtClean="0"/>
              <a:t>9/30/2022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020330-F926-45FE-93A3-D8B9E85F4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254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6D8FE-21EF-F473-24C6-216DD5C524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Calibration of CASM to </a:t>
            </a:r>
            <a:b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Study 19b toxic effects</a:t>
            </a:r>
            <a:b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CE8D10-602D-9145-0C6D-0413BD5A92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SM Bartell</a:t>
            </a:r>
          </a:p>
          <a:p>
            <a:r>
              <a:rPr lang="en-US" dirty="0" err="1"/>
              <a:t>Cardno</a:t>
            </a:r>
            <a:r>
              <a:rPr lang="en-US" dirty="0"/>
              <a:t>-Stantec</a:t>
            </a:r>
          </a:p>
          <a:p>
            <a:r>
              <a:rPr lang="en-US" dirty="0"/>
              <a:t>September 30, 2022</a:t>
            </a:r>
          </a:p>
        </p:txBody>
      </p:sp>
    </p:spTree>
    <p:extLst>
      <p:ext uri="{BB962C8B-B14F-4D97-AF65-F5344CB8AC3E}">
        <p14:creationId xmlns:p14="http://schemas.microsoft.com/office/powerpoint/2010/main" val="4014425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B0712-33F9-2FCD-7E14-CB06DAFD7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Methods: CASM calibration to reported toxic effects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305AD-DB66-D01F-7465-BA9FB06E8E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Previous CASM calibration to 19b control data used as baseline</a:t>
            </a:r>
          </a:p>
          <a:p>
            <a:r>
              <a:rPr lang="en-US" dirty="0"/>
              <a:t> Initial toxic effects benchmarks derived</a:t>
            </a:r>
          </a:p>
          <a:p>
            <a:pPr lvl="1"/>
            <a:r>
              <a:rPr lang="en-US" dirty="0"/>
              <a:t>Spreadsheet summary of surrogate and predicted endpoints </a:t>
            </a:r>
          </a:p>
          <a:p>
            <a:pPr lvl="1"/>
            <a:r>
              <a:rPr lang="en-US" dirty="0"/>
              <a:t>Other reported information</a:t>
            </a:r>
          </a:p>
          <a:p>
            <a:r>
              <a:rPr lang="en-US" dirty="0"/>
              <a:t>EC50 values systematically adjusted (+/-) for the selected taxa</a:t>
            </a:r>
          </a:p>
          <a:p>
            <a:r>
              <a:rPr lang="en-US" dirty="0"/>
              <a:t>Perform toxic effects simulations using consensus exposure profile</a:t>
            </a:r>
          </a:p>
          <a:p>
            <a:r>
              <a:rPr lang="en-US" dirty="0"/>
              <a:t>Toxic effect simulation results compared with reported effects</a:t>
            </a:r>
          </a:p>
          <a:p>
            <a:pPr lvl="1"/>
            <a:r>
              <a:rPr lang="en-US" dirty="0"/>
              <a:t>Average deviation from baseline</a:t>
            </a:r>
          </a:p>
          <a:p>
            <a:pPr lvl="1"/>
            <a:r>
              <a:rPr lang="en-US" dirty="0"/>
              <a:t>Maximum deviation from baseline</a:t>
            </a:r>
          </a:p>
          <a:p>
            <a:r>
              <a:rPr lang="en-US" dirty="0"/>
              <a:t>Plot results</a:t>
            </a:r>
          </a:p>
        </p:txBody>
      </p:sp>
    </p:spTree>
    <p:extLst>
      <p:ext uri="{BB962C8B-B14F-4D97-AF65-F5344CB8AC3E}">
        <p14:creationId xmlns:p14="http://schemas.microsoft.com/office/powerpoint/2010/main" val="2656365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6EBD3EB-BECA-F7F2-831B-FEDBD9B3C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062" y="1266931"/>
            <a:ext cx="6386701" cy="383733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7366C0-BA4F-1D25-157C-A5D5D7D19EFE}"/>
              </a:ext>
            </a:extLst>
          </p:cNvPr>
          <p:cNvSpPr txBox="1"/>
          <p:nvPr/>
        </p:nvSpPr>
        <p:spPr>
          <a:xfrm>
            <a:off x="518614" y="382137"/>
            <a:ext cx="6878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Daily concentrations of AZT used in CASM simulations</a:t>
            </a:r>
          </a:p>
        </p:txBody>
      </p:sp>
    </p:spTree>
    <p:extLst>
      <p:ext uri="{BB962C8B-B14F-4D97-AF65-F5344CB8AC3E}">
        <p14:creationId xmlns:p14="http://schemas.microsoft.com/office/powerpoint/2010/main" val="1619092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714" name="Rectangle 2"/>
          <p:cNvSpPr>
            <a:spLocks noGrp="1" noChangeArrowheads="1"/>
          </p:cNvSpPr>
          <p:nvPr>
            <p:ph type="title"/>
          </p:nvPr>
        </p:nvSpPr>
        <p:spPr>
          <a:xfrm>
            <a:off x="600501" y="90488"/>
            <a:ext cx="10740789" cy="812800"/>
          </a:xfrm>
        </p:spPr>
        <p:txBody>
          <a:bodyPr>
            <a:noAutofit/>
          </a:bodyPr>
          <a:lstStyle/>
          <a:p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CASM: Translating daily exposure to effects on population growth</a:t>
            </a:r>
          </a:p>
        </p:txBody>
      </p:sp>
      <p:pic>
        <p:nvPicPr>
          <p:cNvPr id="755715" name="Picture 3" descr="Probit function example_CASM Pop N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7236" y="775060"/>
            <a:ext cx="6472237" cy="530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5719" name="Line 7"/>
          <p:cNvSpPr>
            <a:spLocks noChangeShapeType="1"/>
          </p:cNvSpPr>
          <p:nvPr/>
        </p:nvSpPr>
        <p:spPr bwMode="auto">
          <a:xfrm flipH="1" flipV="1">
            <a:off x="6388100" y="4584700"/>
            <a:ext cx="0" cy="825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5720" name="Line 8"/>
          <p:cNvSpPr>
            <a:spLocks noChangeShapeType="1"/>
          </p:cNvSpPr>
          <p:nvPr/>
        </p:nvSpPr>
        <p:spPr bwMode="auto">
          <a:xfrm flipH="1">
            <a:off x="3644900" y="4622800"/>
            <a:ext cx="2743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5721" name="Text Box 9"/>
          <p:cNvSpPr txBox="1">
            <a:spLocks noChangeArrowheads="1"/>
          </p:cNvSpPr>
          <p:nvPr/>
        </p:nvSpPr>
        <p:spPr bwMode="auto">
          <a:xfrm rot="16200000">
            <a:off x="1278732" y="3352007"/>
            <a:ext cx="3422650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90500" indent="-76200"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428625" indent="-123825"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600075" indent="-57150"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800100" indent="-85725"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257300" indent="-857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1714500" indent="-857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171700" indent="-857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628900" indent="-857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Aft>
                <a:spcPts val="600"/>
              </a:spcAft>
            </a:pPr>
            <a:r>
              <a:rPr lang="en-US" altLang="en-US" sz="1800">
                <a:latin typeface="Arial" panose="020B0604020202020204" pitchFamily="34" charset="0"/>
              </a:rPr>
              <a:t>Percent reduction in growth rate</a:t>
            </a:r>
          </a:p>
        </p:txBody>
      </p:sp>
      <p:sp>
        <p:nvSpPr>
          <p:cNvPr id="755722" name="Text Box 10"/>
          <p:cNvSpPr txBox="1">
            <a:spLocks noChangeArrowheads="1"/>
          </p:cNvSpPr>
          <p:nvPr/>
        </p:nvSpPr>
        <p:spPr bwMode="auto">
          <a:xfrm>
            <a:off x="3768725" y="3744913"/>
            <a:ext cx="5506636" cy="72327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90500" indent="-76200"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428625" indent="-123825"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600075" indent="-57150"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800100" indent="-85725"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257300" indent="-857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1714500" indent="-857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171700" indent="-857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628900" indent="-857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Aft>
                <a:spcPts val="600"/>
              </a:spcAft>
            </a:pPr>
            <a:r>
              <a:rPr lang="en-US" altLang="en-US" sz="1800" dirty="0">
                <a:latin typeface="Arial" panose="020B0604020202020204" pitchFamily="34" charset="0"/>
              </a:rPr>
              <a:t>Adjust growth parameters to produce 20% reduction</a:t>
            </a:r>
          </a:p>
          <a:p>
            <a:pPr>
              <a:spcAft>
                <a:spcPts val="600"/>
              </a:spcAft>
            </a:pPr>
            <a:r>
              <a:rPr lang="en-US" altLang="en-US" sz="1800" dirty="0">
                <a:latin typeface="Arial" panose="020B0604020202020204" pitchFamily="34" charset="0"/>
              </a:rPr>
              <a:t>in daily growth rate: TEF </a:t>
            </a:r>
          </a:p>
        </p:txBody>
      </p:sp>
      <p:sp>
        <p:nvSpPr>
          <p:cNvPr id="755723" name="Text Box 11"/>
          <p:cNvSpPr txBox="1">
            <a:spLocks noChangeArrowheads="1"/>
          </p:cNvSpPr>
          <p:nvPr/>
        </p:nvSpPr>
        <p:spPr bwMode="auto">
          <a:xfrm>
            <a:off x="8288483" y="1823304"/>
            <a:ext cx="3397725" cy="155427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90500" indent="-76200"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428625" indent="-123825"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600075" indent="-57150"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800100" indent="-85725"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257300" indent="-857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1714500" indent="-857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171700" indent="-857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628900" indent="-857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Aft>
                <a:spcPts val="60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Toxic Effects Factors (TEFs)</a:t>
            </a:r>
          </a:p>
          <a:p>
            <a:pPr>
              <a:spcAft>
                <a:spcPts val="60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Calculated daily</a:t>
            </a:r>
          </a:p>
          <a:p>
            <a:pPr>
              <a:spcAft>
                <a:spcPts val="60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Population specific</a:t>
            </a:r>
          </a:p>
          <a:p>
            <a:pPr>
              <a:spcAft>
                <a:spcPts val="60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Reversible effects</a:t>
            </a:r>
          </a:p>
        </p:txBody>
      </p:sp>
      <p:sp>
        <p:nvSpPr>
          <p:cNvPr id="755724" name="Text Box 12"/>
          <p:cNvSpPr txBox="1">
            <a:spLocks noChangeArrowheads="1"/>
          </p:cNvSpPr>
          <p:nvPr/>
        </p:nvSpPr>
        <p:spPr bwMode="auto">
          <a:xfrm>
            <a:off x="6626225" y="4835525"/>
            <a:ext cx="19446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90500" indent="-76200"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428625" indent="-123825"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600075" indent="-57150"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800100" indent="-85725"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257300" indent="-857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1714500" indent="-857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171700" indent="-857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628900" indent="-857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Aft>
                <a:spcPts val="600"/>
              </a:spcAft>
            </a:pPr>
            <a:r>
              <a:rPr lang="en-US" altLang="en-US" sz="1600" b="1">
                <a:latin typeface="Arial" panose="020B0604020202020204" pitchFamily="34" charset="0"/>
              </a:rPr>
              <a:t>Exposure: 35 </a:t>
            </a:r>
            <a:r>
              <a:rPr lang="el-GR" altLang="en-US" sz="1600" b="1">
                <a:latin typeface="Arial" panose="020B0604020202020204" pitchFamily="34" charset="0"/>
                <a:cs typeface="Arial" panose="020B0604020202020204" pitchFamily="34" charset="0"/>
              </a:rPr>
              <a:t>μ</a:t>
            </a:r>
            <a:r>
              <a:rPr lang="en-US" altLang="en-US" sz="1600" b="1">
                <a:latin typeface="Arial" panose="020B0604020202020204" pitchFamily="34" charset="0"/>
                <a:cs typeface="Arial" panose="020B0604020202020204" pitchFamily="34" charset="0"/>
              </a:rPr>
              <a:t>g/L</a:t>
            </a:r>
            <a:endParaRPr lang="el-GR" altLang="en-US" sz="1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5725" name="Text Box 13"/>
          <p:cNvSpPr txBox="1">
            <a:spLocks noChangeArrowheads="1"/>
          </p:cNvSpPr>
          <p:nvPr/>
        </p:nvSpPr>
        <p:spPr bwMode="auto">
          <a:xfrm>
            <a:off x="4505325" y="3214688"/>
            <a:ext cx="220345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90500" indent="-76200"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428625" indent="-123825"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600075" indent="-57150"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800100" indent="-85725"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257300" indent="-857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1714500" indent="-857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171700" indent="-857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628900" indent="-857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Aft>
                <a:spcPts val="600"/>
              </a:spcAft>
            </a:pPr>
            <a:r>
              <a:rPr lang="en-US" altLang="en-US">
                <a:latin typeface="Arial" panose="020B0604020202020204" pitchFamily="34" charset="0"/>
              </a:rPr>
              <a:t>EC</a:t>
            </a:r>
            <a:r>
              <a:rPr lang="en-US" altLang="en-US" baseline="-25000">
                <a:latin typeface="Arial" panose="020B0604020202020204" pitchFamily="34" charset="0"/>
              </a:rPr>
              <a:t>50</a:t>
            </a:r>
            <a:r>
              <a:rPr lang="en-US" altLang="en-US">
                <a:latin typeface="Arial" panose="020B0604020202020204" pitchFamily="34" charset="0"/>
              </a:rPr>
              <a:t> = 60 </a:t>
            </a:r>
            <a:r>
              <a:rPr lang="el-GR" altLang="en-US">
                <a:latin typeface="Arial" panose="020B0604020202020204" pitchFamily="34" charset="0"/>
                <a:cs typeface="Arial" panose="020B0604020202020204" pitchFamily="34" charset="0"/>
              </a:rPr>
              <a:t>μ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g/L</a:t>
            </a:r>
            <a:endParaRPr lang="el-G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4" descr="MO-01_2006_Stair-step interpolation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476" y="1201356"/>
            <a:ext cx="2260625" cy="179537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709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474" name="Rectangle 2"/>
          <p:cNvSpPr>
            <a:spLocks noGrp="1" noChangeArrowheads="1"/>
          </p:cNvSpPr>
          <p:nvPr>
            <p:ph type="title"/>
          </p:nvPr>
        </p:nvSpPr>
        <p:spPr>
          <a:xfrm>
            <a:off x="510653" y="257173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ja-JP" sz="2800" dirty="0">
                <a:latin typeface="Arial" panose="020B0604020202020204" pitchFamily="34" charset="0"/>
                <a:ea typeface="ＭＳ Ｐゴシック" pitchFamily="50" charset="-128"/>
                <a:cs typeface="Arial" panose="020B0604020202020204" pitchFamily="34" charset="0"/>
              </a:rPr>
              <a:t>Examples of modeled effects on daily </a:t>
            </a:r>
            <a:r>
              <a:rPr lang="en-US" altLang="ja-JP" sz="2800" dirty="0" err="1">
                <a:latin typeface="Arial" panose="020B0604020202020204" pitchFamily="34" charset="0"/>
                <a:ea typeface="ＭＳ Ｐゴシック" pitchFamily="50" charset="-128"/>
                <a:cs typeface="Arial" panose="020B0604020202020204" pitchFamily="34" charset="0"/>
              </a:rPr>
              <a:t>periphyton</a:t>
            </a:r>
            <a:r>
              <a:rPr lang="en-US" altLang="ja-JP" sz="2800" dirty="0">
                <a:latin typeface="Arial" panose="020B0604020202020204" pitchFamily="34" charset="0"/>
                <a:ea typeface="ＭＳ Ｐゴシック" pitchFamily="50" charset="-128"/>
                <a:cs typeface="Arial" panose="020B0604020202020204" pitchFamily="34" charset="0"/>
              </a:rPr>
              <a:t> biomass</a:t>
            </a:r>
            <a:endParaRPr lang="en-US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4547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388" y="1449389"/>
            <a:ext cx="4375150" cy="382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5476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5850" y="1466850"/>
            <a:ext cx="4400550" cy="377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543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749A31-D461-583A-5A89-16400F973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431" y="671512"/>
            <a:ext cx="4575786" cy="46434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4900BAD-58B6-A79B-D714-89E2F8B7D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7057" y="359713"/>
            <a:ext cx="4898506" cy="4955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977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D2BDCD-132C-16B7-C97A-22CD48E0F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009" y="1104583"/>
            <a:ext cx="4478641" cy="45448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981DE63-7675-3C03-64AB-E620A9DA8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1650" y="805217"/>
            <a:ext cx="4788762" cy="4844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823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286BCA-0183-ED67-AE85-25BE16D0D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758910"/>
            <a:ext cx="4629150" cy="46827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C49003-6F99-3867-F75D-2B541A42F8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0185" y="1076483"/>
            <a:ext cx="4412007" cy="4477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077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306862-6943-81C7-C264-A6A488E91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629" y="1386952"/>
            <a:ext cx="4872251" cy="49286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9C9D88-97AA-6680-A35D-505387F6F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158" y="1662378"/>
            <a:ext cx="4649339" cy="47180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30F7654-B95B-82FE-BC18-36F6AEF5DC8E}"/>
              </a:ext>
            </a:extLst>
          </p:cNvPr>
          <p:cNvSpPr txBox="1"/>
          <p:nvPr/>
        </p:nvSpPr>
        <p:spPr>
          <a:xfrm>
            <a:off x="1132114" y="772886"/>
            <a:ext cx="1419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EC50: 19 ppb</a:t>
            </a:r>
          </a:p>
        </p:txBody>
      </p:sp>
    </p:spTree>
    <p:extLst>
      <p:ext uri="{BB962C8B-B14F-4D97-AF65-F5344CB8AC3E}">
        <p14:creationId xmlns:p14="http://schemas.microsoft.com/office/powerpoint/2010/main" val="4235468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02A248-B191-BCC0-3834-E760E644ED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772886"/>
            <a:ext cx="5014666" cy="50727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02E488C-AE2F-0926-DF93-8B8392F81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62" y="1132114"/>
            <a:ext cx="4631851" cy="45937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CD29821-DCC5-54E7-B028-A8712467A99D}"/>
              </a:ext>
            </a:extLst>
          </p:cNvPr>
          <p:cNvSpPr txBox="1"/>
          <p:nvPr/>
        </p:nvSpPr>
        <p:spPr>
          <a:xfrm>
            <a:off x="1077686" y="566057"/>
            <a:ext cx="1419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EC50: 57 ppb</a:t>
            </a:r>
          </a:p>
        </p:txBody>
      </p:sp>
    </p:spTree>
    <p:extLst>
      <p:ext uri="{BB962C8B-B14F-4D97-AF65-F5344CB8AC3E}">
        <p14:creationId xmlns:p14="http://schemas.microsoft.com/office/powerpoint/2010/main" val="34310665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73FE03-E83A-6852-3245-4A7EFBFD6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4693" y="1122406"/>
            <a:ext cx="4597354" cy="46505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B98D22-57C6-165B-945D-320FBFD4E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719" y="1469097"/>
            <a:ext cx="4275065" cy="4338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7228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0A8A1C-43F8-C4AA-9D0F-B53408ABE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3128" y="879314"/>
            <a:ext cx="4844409" cy="49005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7F5675-ABAF-6217-5E45-656C03EBE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4463" y="1214652"/>
            <a:ext cx="4498665" cy="456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076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9D642F-43F3-334A-19C3-B9439BF4F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011" y="974977"/>
            <a:ext cx="4163268" cy="42248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0C0F06-9F55-6D63-C5DD-D09F7EEB4C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015" y="742965"/>
            <a:ext cx="4396650" cy="4455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4962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FCE9F95A-0155-C6B0-F945-7B872A63F52A}"/>
              </a:ext>
            </a:extLst>
          </p:cNvPr>
          <p:cNvGraphicFramePr>
            <a:graphicFrameLocks noGrp="1"/>
          </p:cNvGraphicFramePr>
          <p:nvPr/>
        </p:nvGraphicFramePr>
        <p:xfrm>
          <a:off x="1240430" y="30352"/>
          <a:ext cx="8128000" cy="336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59696262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410759113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sz="2000" dirty="0"/>
                        <a:t>Initial toxicity benchmark values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037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 population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EC50 (µg/L)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69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Diatoms - phytoplankton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9165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Cryptophytes - phytoplankton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0727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Cladocera – 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99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Copepod – predatory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275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Rotifer – herb2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7914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Nauplii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5386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Daphnidae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635454"/>
                  </a:ext>
                </a:extLst>
              </a:tr>
            </a:tbl>
          </a:graphicData>
        </a:graphic>
      </p:graphicFrame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8FB986DF-BF65-259F-684D-D583AD480C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9196358"/>
              </p:ext>
            </p:extLst>
          </p:nvPr>
        </p:nvGraphicFramePr>
        <p:xfrm>
          <a:off x="1240430" y="3451491"/>
          <a:ext cx="8128000" cy="336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59696262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410759113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sz="2000" dirty="0"/>
                        <a:t>Calibrated toxicity benchmark values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606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 population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EC50 (µg/L)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69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Diatoms - phytoplankton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9457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Cryptophytes - phytoplankton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86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Cladocera - 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99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Copepod - predatory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275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Rotifer – herb2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7914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Nauplii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5386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Daphnidae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19; 57 (revised)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5765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49593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4E7848A7-EEBF-038B-B9E8-A63CA9BBC5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9795661"/>
              </p:ext>
            </p:extLst>
          </p:nvPr>
        </p:nvGraphicFramePr>
        <p:xfrm>
          <a:off x="2032000" y="719666"/>
          <a:ext cx="8128000" cy="451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9886">
                  <a:extLst>
                    <a:ext uri="{9D8B030D-6E8A-4147-A177-3AD203B41FA5}">
                      <a16:colId xmlns:a16="http://schemas.microsoft.com/office/drawing/2014/main" val="3013303288"/>
                    </a:ext>
                  </a:extLst>
                </a:gridCol>
                <a:gridCol w="1894114">
                  <a:extLst>
                    <a:ext uri="{9D8B030D-6E8A-4147-A177-3AD203B41FA5}">
                      <a16:colId xmlns:a16="http://schemas.microsoft.com/office/drawing/2014/main" val="206980584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6058724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904589827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r>
                        <a:rPr lang="en-US" dirty="0"/>
                        <a:t>Summary of CASM performance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4059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Population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 negatives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 positives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Average 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513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Diatoms - phytoplankton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2465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Cryptophytes - phytoplankton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271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Copepods - predatory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3260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Nauplii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6834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Cladocera - 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857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Daphnidae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1110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Daphnidae</a:t>
                      </a:r>
                      <a:r>
                        <a:rPr lang="en-US" dirty="0"/>
                        <a:t> - revised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253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Rotifers – herb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7955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55878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DF0BBFF-B1BE-CFC3-E10F-0BC323632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181" y="980168"/>
            <a:ext cx="4581525" cy="27527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E18260A-069D-2ADB-B2DA-124FB901D558}"/>
              </a:ext>
            </a:extLst>
          </p:cNvPr>
          <p:cNvSpPr txBox="1"/>
          <p:nvPr/>
        </p:nvSpPr>
        <p:spPr>
          <a:xfrm>
            <a:off x="435936" y="223283"/>
            <a:ext cx="42661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CASM indirect effects - zooplankton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29F920-B701-C638-0F4F-A9358F5A6B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367" y="980168"/>
            <a:ext cx="4572000" cy="27717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12BC77-84F7-9062-2FFC-5B661BE466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181" y="3881992"/>
            <a:ext cx="4572000" cy="27527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2FCDA0-571E-A6C1-C8DA-3C00A8CA53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2367" y="3862942"/>
            <a:ext cx="4572000" cy="277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660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18260A-069D-2ADB-B2DA-124FB901D558}"/>
              </a:ext>
            </a:extLst>
          </p:cNvPr>
          <p:cNvSpPr txBox="1"/>
          <p:nvPr/>
        </p:nvSpPr>
        <p:spPr>
          <a:xfrm>
            <a:off x="435936" y="223283"/>
            <a:ext cx="50627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CASM indirect effects - macroinvertebrates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716F51-A842-1709-1D7D-53EF8A76F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732" y="831000"/>
            <a:ext cx="4572000" cy="27717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DB4F2A-9155-0548-34FB-890582AD0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9042" y="831000"/>
            <a:ext cx="4572000" cy="27717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B71B9E-4E5C-2061-DCF2-6F302B6B05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732" y="3862942"/>
            <a:ext cx="4572000" cy="27717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BACAC5B-6701-A1A9-B569-088A10B3DD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9042" y="3862941"/>
            <a:ext cx="4572000" cy="277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9390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F92662-DFAE-BCDE-2B5C-1BF3E123E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General</a:t>
            </a:r>
          </a:p>
        </p:txBody>
      </p:sp>
      <p:pic>
        <p:nvPicPr>
          <p:cNvPr id="11" name="Inhaltsplatzhalter 10" descr="Ein Bild, das Text, Whiteboard enthält.&#10;&#10;Automatisch generierte Beschreibung">
            <a:extLst>
              <a:ext uri="{FF2B5EF4-FFF2-40B4-BE49-F238E27FC236}">
                <a16:creationId xmlns:a16="http://schemas.microsoft.com/office/drawing/2014/main" id="{75E09705-B297-A0DD-5071-32B8BB1D74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9538" y="417315"/>
            <a:ext cx="8031162" cy="6023370"/>
          </a:xfrm>
        </p:spPr>
      </p:pic>
    </p:spTree>
    <p:extLst>
      <p:ext uri="{BB962C8B-B14F-4D97-AF65-F5344CB8AC3E}">
        <p14:creationId xmlns:p14="http://schemas.microsoft.com/office/powerpoint/2010/main" val="2929301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nhaltsplatzhalter 10" descr="Ein Bild, das Text, Whiteboard enthält.&#10;&#10;Automatisch generierte Beschreibung">
            <a:extLst>
              <a:ext uri="{FF2B5EF4-FFF2-40B4-BE49-F238E27FC236}">
                <a16:creationId xmlns:a16="http://schemas.microsoft.com/office/drawing/2014/main" id="{3F746276-0C3D-9B1A-C59E-33073DBB46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1218" y="608707"/>
            <a:ext cx="7520782" cy="5640585"/>
          </a:xfrm>
          <a:prstGeom prst="rect">
            <a:avLst/>
          </a:prstGeom>
        </p:spPr>
      </p:pic>
      <p:sp>
        <p:nvSpPr>
          <p:cNvPr id="5" name="Freeform 4"/>
          <p:cNvSpPr/>
          <p:nvPr/>
        </p:nvSpPr>
        <p:spPr>
          <a:xfrm>
            <a:off x="5503840" y="4172711"/>
            <a:ext cx="1959118" cy="811218"/>
          </a:xfrm>
          <a:custGeom>
            <a:avLst/>
            <a:gdLst>
              <a:gd name="connsiteX0" fmla="*/ 0 w 2505181"/>
              <a:gd name="connsiteY0" fmla="*/ 0 h 1068593"/>
              <a:gd name="connsiteX1" fmla="*/ 356049 w 2505181"/>
              <a:gd name="connsiteY1" fmla="*/ 760651 h 1068593"/>
              <a:gd name="connsiteX2" fmla="*/ 873939 w 2505181"/>
              <a:gd name="connsiteY2" fmla="*/ 1068149 h 1068593"/>
              <a:gd name="connsiteX3" fmla="*/ 1586039 w 2505181"/>
              <a:gd name="connsiteY3" fmla="*/ 817296 h 1068593"/>
              <a:gd name="connsiteX4" fmla="*/ 2395242 w 2505181"/>
              <a:gd name="connsiteY4" fmla="*/ 364142 h 1068593"/>
              <a:gd name="connsiteX5" fmla="*/ 2476162 w 2505181"/>
              <a:gd name="connsiteY5" fmla="*/ 315589 h 1068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05181" h="1068593">
                <a:moveTo>
                  <a:pt x="0" y="0"/>
                </a:moveTo>
                <a:cubicBezTo>
                  <a:pt x="105196" y="291313"/>
                  <a:pt x="210393" y="582626"/>
                  <a:pt x="356049" y="760651"/>
                </a:cubicBezTo>
                <a:cubicBezTo>
                  <a:pt x="501705" y="938676"/>
                  <a:pt x="668941" y="1058708"/>
                  <a:pt x="873939" y="1068149"/>
                </a:cubicBezTo>
                <a:cubicBezTo>
                  <a:pt x="1078937" y="1077590"/>
                  <a:pt x="1332489" y="934630"/>
                  <a:pt x="1586039" y="817296"/>
                </a:cubicBezTo>
                <a:cubicBezTo>
                  <a:pt x="1839589" y="699962"/>
                  <a:pt x="2246888" y="447760"/>
                  <a:pt x="2395242" y="364142"/>
                </a:cubicBezTo>
                <a:cubicBezTo>
                  <a:pt x="2543596" y="280524"/>
                  <a:pt x="2509879" y="298056"/>
                  <a:pt x="2476162" y="315589"/>
                </a:cubicBezTo>
              </a:path>
            </a:pathLst>
          </a:custGeom>
          <a:noFill/>
          <a:ln w="400050">
            <a:solidFill>
              <a:srgbClr val="C00000">
                <a:alpha val="2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76200">
                <a:solidFill>
                  <a:schemeClr val="tx1"/>
                </a:solidFill>
              </a:ln>
            </a:endParaRPr>
          </a:p>
        </p:txBody>
      </p:sp>
      <p:cxnSp>
        <p:nvCxnSpPr>
          <p:cNvPr id="7" name="Straight Connector 6"/>
          <p:cNvCxnSpPr>
            <a:cxnSpLocks/>
          </p:cNvCxnSpPr>
          <p:nvPr/>
        </p:nvCxnSpPr>
        <p:spPr>
          <a:xfrm>
            <a:off x="5506607" y="4472386"/>
            <a:ext cx="1841067" cy="0"/>
          </a:xfrm>
          <a:prstGeom prst="line">
            <a:avLst/>
          </a:prstGeom>
          <a:noFill/>
          <a:ln w="457200">
            <a:solidFill>
              <a:schemeClr val="accent6">
                <a:lumMod val="75000"/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" name="Straight Connector 7"/>
          <p:cNvCxnSpPr>
            <a:cxnSpLocks/>
          </p:cNvCxnSpPr>
          <p:nvPr/>
        </p:nvCxnSpPr>
        <p:spPr>
          <a:xfrm>
            <a:off x="5359838" y="2430220"/>
            <a:ext cx="1654778" cy="0"/>
          </a:xfrm>
          <a:prstGeom prst="line">
            <a:avLst/>
          </a:prstGeom>
          <a:noFill/>
          <a:ln w="358775">
            <a:solidFill>
              <a:schemeClr val="accent6">
                <a:lumMod val="75000"/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Freeform 8"/>
          <p:cNvSpPr/>
          <p:nvPr/>
        </p:nvSpPr>
        <p:spPr>
          <a:xfrm>
            <a:off x="5368274" y="2024611"/>
            <a:ext cx="1690894" cy="811218"/>
          </a:xfrm>
          <a:custGeom>
            <a:avLst/>
            <a:gdLst>
              <a:gd name="connsiteX0" fmla="*/ 0 w 2505181"/>
              <a:gd name="connsiteY0" fmla="*/ 0 h 1068593"/>
              <a:gd name="connsiteX1" fmla="*/ 356049 w 2505181"/>
              <a:gd name="connsiteY1" fmla="*/ 760651 h 1068593"/>
              <a:gd name="connsiteX2" fmla="*/ 873939 w 2505181"/>
              <a:gd name="connsiteY2" fmla="*/ 1068149 h 1068593"/>
              <a:gd name="connsiteX3" fmla="*/ 1586039 w 2505181"/>
              <a:gd name="connsiteY3" fmla="*/ 817296 h 1068593"/>
              <a:gd name="connsiteX4" fmla="*/ 2395242 w 2505181"/>
              <a:gd name="connsiteY4" fmla="*/ 364142 h 1068593"/>
              <a:gd name="connsiteX5" fmla="*/ 2476162 w 2505181"/>
              <a:gd name="connsiteY5" fmla="*/ 315589 h 1068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05181" h="1068593">
                <a:moveTo>
                  <a:pt x="0" y="0"/>
                </a:moveTo>
                <a:cubicBezTo>
                  <a:pt x="105196" y="291313"/>
                  <a:pt x="210393" y="582626"/>
                  <a:pt x="356049" y="760651"/>
                </a:cubicBezTo>
                <a:cubicBezTo>
                  <a:pt x="501705" y="938676"/>
                  <a:pt x="668941" y="1058708"/>
                  <a:pt x="873939" y="1068149"/>
                </a:cubicBezTo>
                <a:cubicBezTo>
                  <a:pt x="1078937" y="1077590"/>
                  <a:pt x="1332489" y="934630"/>
                  <a:pt x="1586039" y="817296"/>
                </a:cubicBezTo>
                <a:cubicBezTo>
                  <a:pt x="1839589" y="699962"/>
                  <a:pt x="2246888" y="447760"/>
                  <a:pt x="2395242" y="364142"/>
                </a:cubicBezTo>
                <a:cubicBezTo>
                  <a:pt x="2543596" y="280524"/>
                  <a:pt x="2509879" y="298056"/>
                  <a:pt x="2476162" y="315589"/>
                </a:cubicBezTo>
              </a:path>
            </a:pathLst>
          </a:custGeom>
          <a:noFill/>
          <a:ln w="339725">
            <a:solidFill>
              <a:srgbClr val="C00000">
                <a:alpha val="2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76200">
                <a:solidFill>
                  <a:schemeClr val="tx1"/>
                </a:solidFill>
              </a:ln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3EDC98FC-3B57-E196-96E9-E2DB214EFF3A}"/>
              </a:ext>
            </a:extLst>
          </p:cNvPr>
          <p:cNvSpPr txBox="1"/>
          <p:nvPr/>
        </p:nvSpPr>
        <p:spPr>
          <a:xfrm>
            <a:off x="504666" y="449938"/>
            <a:ext cx="4150089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 dirty="0">
                <a:latin typeface="+mj-lt"/>
                <a:ea typeface="+mj-ea"/>
                <a:cs typeface="+mj-cs"/>
              </a:rPr>
              <a:t>To evaluate: Option for models with multiple outputs</a:t>
            </a:r>
          </a:p>
        </p:txBody>
      </p:sp>
    </p:spTree>
    <p:extLst>
      <p:ext uri="{BB962C8B-B14F-4D97-AF65-F5344CB8AC3E}">
        <p14:creationId xmlns:p14="http://schemas.microsoft.com/office/powerpoint/2010/main" val="1541352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5A361FC52636644AF018940F5BBAE47" ma:contentTypeVersion="10" ma:contentTypeDescription="Create a new document." ma:contentTypeScope="" ma:versionID="ac6e1f80dc27eeb5d2a42c7e3b94dcde">
  <xsd:schema xmlns:xsd="http://www.w3.org/2001/XMLSchema" xmlns:xs="http://www.w3.org/2001/XMLSchema" xmlns:p="http://schemas.microsoft.com/office/2006/metadata/properties" xmlns:ns2="e8c9f281-3412-4e7c-aa99-f11e77b29808" xmlns:ns3="12b2bc4a-8c05-4ac9-8444-39aa43079f4e" targetNamespace="http://schemas.microsoft.com/office/2006/metadata/properties" ma:root="true" ma:fieldsID="4794832ea2b41bc44b8a0f479482d895" ns2:_="" ns3:_="">
    <xsd:import namespace="e8c9f281-3412-4e7c-aa99-f11e77b29808"/>
    <xsd:import namespace="12b2bc4a-8c05-4ac9-8444-39aa43079f4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c9f281-3412-4e7c-aa99-f11e77b2980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b2bc4a-8c05-4ac9-8444-39aa43079f4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DB0E43A-028F-4227-9615-A6D54F64539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8c9f281-3412-4e7c-aa99-f11e77b29808"/>
    <ds:schemaRef ds:uri="12b2bc4a-8c05-4ac9-8444-39aa43079f4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4D82F8D-7096-4443-95CC-4D9E13D33F8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1405D7-5A3C-4679-80D2-DAB24BCF51B1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35759</TotalTime>
  <Words>323</Words>
  <Application>Microsoft Office PowerPoint</Application>
  <PresentationFormat>Widescreen</PresentationFormat>
  <Paragraphs>105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Calibration of CASM to  Study 19b toxic effects  </vt:lpstr>
      <vt:lpstr>Methods: CASM calibration to reported toxic effects</vt:lpstr>
      <vt:lpstr>PowerPoint Presentation</vt:lpstr>
      <vt:lpstr>CASM: Translating daily exposure to effects on population growth</vt:lpstr>
      <vt:lpstr>Examples of modeled effects on daily periphyton biomass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General</vt:lpstr>
      <vt:lpstr>PowerPoint Presentation</vt:lpstr>
    </vt:vector>
  </TitlesOfParts>
  <Company>ETH Zuerich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Schuwirth, Nele</dc:creator>
  <cp:lastModifiedBy>Steve Bartell</cp:lastModifiedBy>
  <cp:revision>46</cp:revision>
  <dcterms:created xsi:type="dcterms:W3CDTF">2022-06-13T11:20:54Z</dcterms:created>
  <dcterms:modified xsi:type="dcterms:W3CDTF">2022-09-30T14:44:55Z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0x01010065A361FC52636644AF018940F5BBAE47</vt:lpwstr>
  </property>
</Properties>
</file>